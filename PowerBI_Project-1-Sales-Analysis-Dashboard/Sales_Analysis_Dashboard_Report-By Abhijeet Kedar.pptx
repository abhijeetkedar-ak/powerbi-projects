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59" r:id="rId5"/>
    <p:sldId id="258" r:id="rId6"/>
    <p:sldId id="261" r:id="rId7"/>
    <p:sldId id="262" r:id="rId8"/>
    <p:sldId id="263"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3" d="100"/>
          <a:sy n="53" d="100"/>
        </p:scale>
        <p:origin x="53" y="2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846"/>
        </a:solidFill>
        <a:effectLst/>
      </p:bgPr>
    </p:bg>
    <p:spTree>
      <p:nvGrpSpPr>
        <p:cNvPr id="1" name=""/>
        <p:cNvGrpSpPr/>
        <p:nvPr/>
      </p:nvGrpSpPr>
      <p:grpSpPr>
        <a:xfrm>
          <a:off x="0" y="0"/>
          <a:ext cx="0" cy="0"/>
          <a:chOff x="0" y="0"/>
          <a:chExt cx="0" cy="0"/>
        </a:xfrm>
      </p:grpSpPr>
      <p:sp>
        <p:nvSpPr>
          <p:cNvPr id="2" name="TextBox 1"/>
          <p:cNvSpPr txBox="1"/>
          <p:nvPr/>
        </p:nvSpPr>
        <p:spPr>
          <a:xfrm>
            <a:off x="2424167" y="1621536"/>
            <a:ext cx="4295663" cy="553998"/>
          </a:xfrm>
          <a:prstGeom prst="rect">
            <a:avLst/>
          </a:prstGeom>
          <a:noFill/>
        </p:spPr>
        <p:txBody>
          <a:bodyPr wrap="none">
            <a:spAutoFit/>
          </a:bodyPr>
          <a:lstStyle/>
          <a:p>
            <a:pPr>
              <a:defRPr sz="3000" b="1">
                <a:solidFill>
                  <a:srgbClr val="FFFFFF"/>
                </a:solidFill>
              </a:defRPr>
            </a:pPr>
            <a:r>
              <a:rPr lang="en-IN" sz="3000" b="1" dirty="0"/>
              <a:t>Sales Dashboard Analysis </a:t>
            </a:r>
            <a:endParaRPr dirty="0"/>
          </a:p>
        </p:txBody>
      </p:sp>
      <p:sp>
        <p:nvSpPr>
          <p:cNvPr id="3" name="TextBox 2"/>
          <p:cNvSpPr txBox="1"/>
          <p:nvPr/>
        </p:nvSpPr>
        <p:spPr>
          <a:xfrm>
            <a:off x="3047999" y="2487168"/>
            <a:ext cx="3048000" cy="707886"/>
          </a:xfrm>
          <a:prstGeom prst="rect">
            <a:avLst/>
          </a:prstGeom>
          <a:noFill/>
        </p:spPr>
        <p:txBody>
          <a:bodyPr wrap="square">
            <a:spAutoFit/>
          </a:bodyPr>
          <a:lstStyle/>
          <a:p>
            <a:pPr>
              <a:defRPr sz="2000">
                <a:solidFill>
                  <a:srgbClr val="FFFFFF"/>
                </a:solidFill>
              </a:defRPr>
            </a:pPr>
            <a:r>
              <a:t>Professional Project Report</a:t>
            </a:r>
            <a:br/>
            <a:r>
              <a:t>Created by: Abhijeet Kedar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7315200" cy="457200"/>
          </a:xfrm>
          <a:prstGeom prst="rect">
            <a:avLst/>
          </a:prstGeom>
          <a:noFill/>
        </p:spPr>
        <p:txBody>
          <a:bodyPr wrap="none">
            <a:spAutoFit/>
          </a:bodyPr>
          <a:lstStyle/>
          <a:p>
            <a:pPr>
              <a:defRPr sz="2600" b="1">
                <a:solidFill>
                  <a:srgbClr val="FFFFFF"/>
                </a:solidFill>
              </a:defRPr>
            </a:pPr>
            <a:r>
              <a:t>Introduction</a:t>
            </a:r>
          </a:p>
        </p:txBody>
      </p:sp>
      <p:sp>
        <p:nvSpPr>
          <p:cNvPr id="4" name="Rounded Rectangle 3"/>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1" y="1325880"/>
            <a:ext cx="7203439" cy="1846659"/>
          </a:xfrm>
          <a:prstGeom prst="rect">
            <a:avLst/>
          </a:prstGeom>
          <a:noFill/>
        </p:spPr>
        <p:txBody>
          <a:bodyPr wrap="square">
            <a:spAutoFit/>
          </a:bodyPr>
          <a:lstStyle/>
          <a:p>
            <a:pPr algn="just">
              <a:spcAft>
                <a:spcPts val="1000"/>
              </a:spcAft>
              <a:defRPr sz="1900">
                <a:solidFill>
                  <a:srgbClr val="2D2D2D"/>
                </a:solidFill>
                <a:latin typeface="Calibri"/>
              </a:defRPr>
            </a:pPr>
            <a:r>
              <a:rPr dirty="0"/>
              <a:t>• </a:t>
            </a:r>
            <a:r>
              <a:rPr lang="en-US" sz="1900" dirty="0"/>
              <a:t>This project focuses on understanding and improving the company’s sales performance using sales order data. It includes order details, customer information, product categories, profit margins, shipping modes, and regional data. The aim is to track sales trends, find top products, understand customer behavior, and improve operational efficiency.</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1906804" cy="492443"/>
          </a:xfrm>
          <a:prstGeom prst="rect">
            <a:avLst/>
          </a:prstGeom>
          <a:noFill/>
        </p:spPr>
        <p:txBody>
          <a:bodyPr wrap="none">
            <a:spAutoFit/>
          </a:bodyPr>
          <a:lstStyle/>
          <a:p>
            <a:pPr>
              <a:defRPr sz="2600" b="1">
                <a:solidFill>
                  <a:srgbClr val="FFFFFF"/>
                </a:solidFill>
              </a:defRPr>
            </a:pPr>
            <a:r>
              <a:rPr lang="en-US" dirty="0"/>
              <a:t>Key Findings</a:t>
            </a:r>
            <a:endParaRPr dirty="0"/>
          </a:p>
        </p:txBody>
      </p:sp>
      <p:sp>
        <p:nvSpPr>
          <p:cNvPr id="4" name="Rounded Rectangle 3"/>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1" y="1325880"/>
            <a:ext cx="7264400" cy="272382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Certain product categories and regions contribute the most to </a:t>
            </a:r>
            <a:r>
              <a:rPr lang="en-US" dirty="0" err="1"/>
              <a:t>totalsales</a:t>
            </a:r>
            <a:r>
              <a:rPr lang="en-US" dirty="0"/>
              <a:t>.</a:t>
            </a:r>
          </a:p>
          <a:p>
            <a:pPr marL="285750" indent="-285750" algn="just">
              <a:lnSpc>
                <a:spcPct val="150000"/>
              </a:lnSpc>
              <a:buFont typeface="Arial" panose="020B0604020202020204" pitchFamily="34" charset="0"/>
              <a:buChar char="•"/>
            </a:pPr>
            <a:r>
              <a:rPr lang="en-US" dirty="0"/>
              <a:t>High-value customers can be identified based on their purchase patterns.</a:t>
            </a:r>
          </a:p>
          <a:p>
            <a:pPr marL="285750" indent="-285750" algn="just">
              <a:lnSpc>
                <a:spcPct val="150000"/>
              </a:lnSpc>
              <a:buFont typeface="Arial" panose="020B0604020202020204" pitchFamily="34" charset="0"/>
              <a:buChar char="•"/>
            </a:pPr>
            <a:r>
              <a:rPr lang="en-US" dirty="0"/>
              <a:t>Discounts impact profit margins differently depending on the product category.</a:t>
            </a:r>
          </a:p>
          <a:p>
            <a:pPr marL="285750" indent="-285750" algn="just">
              <a:lnSpc>
                <a:spcPct val="150000"/>
              </a:lnSpc>
              <a:buFont typeface="Arial" panose="020B0604020202020204" pitchFamily="34" charset="0"/>
              <a:buChar char="•"/>
            </a:pPr>
            <a:r>
              <a:rPr lang="en-US" dirty="0"/>
              <a:t>Some shipping methods are more profitable than others.</a:t>
            </a:r>
          </a:p>
          <a:p>
            <a:pPr algn="just"/>
            <a:br>
              <a:rPr lang="en-US" dirty="0"/>
            </a:b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2611164" cy="492443"/>
          </a:xfrm>
          <a:prstGeom prst="rect">
            <a:avLst/>
          </a:prstGeom>
          <a:noFill/>
        </p:spPr>
        <p:txBody>
          <a:bodyPr wrap="none">
            <a:spAutoFit/>
          </a:bodyPr>
          <a:lstStyle/>
          <a:p>
            <a:pPr>
              <a:defRPr sz="2600" b="1">
                <a:solidFill>
                  <a:srgbClr val="FFFFFF"/>
                </a:solidFill>
              </a:defRPr>
            </a:pPr>
            <a:r>
              <a:rPr lang="en-US" dirty="0"/>
              <a:t>Actionable Points</a:t>
            </a:r>
            <a:endParaRPr dirty="0"/>
          </a:p>
        </p:txBody>
      </p:sp>
      <p:sp>
        <p:nvSpPr>
          <p:cNvPr id="4" name="Rounded Rectangle 3"/>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6307689" cy="1711366"/>
          </a:xfrm>
          <a:prstGeom prst="rect">
            <a:avLst/>
          </a:prstGeom>
          <a:noFill/>
        </p:spPr>
        <p:txBody>
          <a:bodyPr wrap="none">
            <a:spAutoFit/>
          </a:bodyPr>
          <a:lstStyle/>
          <a:p>
            <a:pPr marL="285750" indent="-285750" algn="just">
              <a:lnSpc>
                <a:spcPct val="150000"/>
              </a:lnSpc>
              <a:buFont typeface="Arial" panose="020B0604020202020204" pitchFamily="34" charset="0"/>
              <a:buChar char="•"/>
            </a:pPr>
            <a:r>
              <a:rPr lang="en-US" dirty="0"/>
              <a:t>Focus marketing and inventory on high-performing categories.</a:t>
            </a:r>
          </a:p>
          <a:p>
            <a:pPr marL="285750" indent="-285750" algn="just">
              <a:lnSpc>
                <a:spcPct val="150000"/>
              </a:lnSpc>
              <a:buFont typeface="Arial" panose="020B0604020202020204" pitchFamily="34" charset="0"/>
              <a:buChar char="•"/>
            </a:pPr>
            <a:r>
              <a:rPr lang="en-US" dirty="0"/>
              <a:t>Maintain strong relationships with top customers.</a:t>
            </a:r>
          </a:p>
          <a:p>
            <a:pPr marL="285750" indent="-285750" algn="just">
              <a:lnSpc>
                <a:spcPct val="150000"/>
              </a:lnSpc>
              <a:buFont typeface="Arial" panose="020B0604020202020204" pitchFamily="34" charset="0"/>
              <a:buChar char="•"/>
            </a:pPr>
            <a:r>
              <a:rPr lang="en-US" dirty="0"/>
              <a:t>Review and adjust discount strategies to protect profits.</a:t>
            </a:r>
          </a:p>
          <a:p>
            <a:pPr marL="285750" indent="-285750" algn="just">
              <a:lnSpc>
                <a:spcPct val="150000"/>
              </a:lnSpc>
              <a:buFont typeface="Arial" panose="020B0604020202020204" pitchFamily="34" charset="0"/>
              <a:buChar char="•"/>
            </a:pPr>
            <a:r>
              <a:rPr lang="en-US" dirty="0"/>
              <a:t>Optimize shipping modes for both cost and delivery speed.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2279085" cy="492443"/>
          </a:xfrm>
          <a:prstGeom prst="rect">
            <a:avLst/>
          </a:prstGeom>
          <a:noFill/>
        </p:spPr>
        <p:txBody>
          <a:bodyPr wrap="none">
            <a:spAutoFit/>
          </a:bodyPr>
          <a:lstStyle/>
          <a:p>
            <a:pPr>
              <a:defRPr sz="2600" b="1">
                <a:solidFill>
                  <a:srgbClr val="FFFFFF"/>
                </a:solidFill>
              </a:defRPr>
            </a:pPr>
            <a:r>
              <a:rPr dirty="0"/>
              <a:t>Methodolog</a:t>
            </a:r>
            <a:r>
              <a:rPr lang="en-US" dirty="0"/>
              <a:t>ies</a:t>
            </a:r>
            <a:endParaRPr dirty="0"/>
          </a:p>
        </p:txBody>
      </p:sp>
      <p:sp>
        <p:nvSpPr>
          <p:cNvPr id="4" name="Rounded Rectangle 3"/>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1" y="1325880"/>
            <a:ext cx="7223760" cy="313932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t>Data cleaning and transformation in Power Query.</a:t>
            </a:r>
            <a:endParaRPr dirty="0"/>
          </a:p>
          <a:p>
            <a:pPr marL="285750" indent="-285750" algn="just">
              <a:lnSpc>
                <a:spcPct val="150000"/>
              </a:lnSpc>
              <a:buFont typeface="Arial" panose="020B0604020202020204" pitchFamily="34" charset="0"/>
              <a:buChar char="•"/>
            </a:pPr>
            <a:r>
              <a:rPr lang="en-US" dirty="0"/>
              <a:t>Measures and calculations created in Power BI (Total Sales, Profit Margin, YOY Growth, etc.).</a:t>
            </a:r>
            <a:endParaRPr dirty="0"/>
          </a:p>
          <a:p>
            <a:pPr marL="285750" indent="-285750" algn="just">
              <a:lnSpc>
                <a:spcPct val="150000"/>
              </a:lnSpc>
              <a:buFont typeface="Arial" panose="020B0604020202020204" pitchFamily="34" charset="0"/>
              <a:buChar char="•"/>
            </a:pPr>
            <a:r>
              <a:rPr lang="en-US" dirty="0"/>
              <a:t>Charts and visuals: bar charts, pie charts, maps, line charts, and scatter plots.</a:t>
            </a:r>
          </a:p>
          <a:p>
            <a:pPr marL="285750" indent="-285750" algn="just">
              <a:lnSpc>
                <a:spcPct val="150000"/>
              </a:lnSpc>
              <a:buFont typeface="Arial" panose="020B0604020202020204" pitchFamily="34" charset="0"/>
              <a:buChar char="•"/>
            </a:pPr>
            <a:r>
              <a:rPr lang="en-US" dirty="0"/>
              <a:t>Filtering and grouping in Power Query for deeper analysis.</a:t>
            </a:r>
          </a:p>
          <a:p>
            <a:br>
              <a:rPr lang="en-US" dirty="0"/>
            </a:b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1825308" cy="492443"/>
          </a:xfrm>
          <a:prstGeom prst="rect">
            <a:avLst/>
          </a:prstGeom>
          <a:noFill/>
        </p:spPr>
        <p:txBody>
          <a:bodyPr wrap="none">
            <a:spAutoFit/>
          </a:bodyPr>
          <a:lstStyle/>
          <a:p>
            <a:pPr>
              <a:defRPr sz="2600" b="1">
                <a:solidFill>
                  <a:srgbClr val="FFFFFF"/>
                </a:solidFill>
              </a:defRPr>
            </a:pPr>
            <a:r>
              <a:rPr lang="en-IN" sz="2600" b="1" dirty="0"/>
              <a:t>Approaches</a:t>
            </a:r>
            <a:endParaRPr dirty="0"/>
          </a:p>
        </p:txBody>
      </p:sp>
      <p:sp>
        <p:nvSpPr>
          <p:cNvPr id="4" name="Rounded Rectangle 3"/>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1" y="1325880"/>
            <a:ext cx="7233920" cy="212686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Start with overall sales analysis, then break down by category, customer, and region.</a:t>
            </a:r>
          </a:p>
          <a:p>
            <a:pPr marL="285750" indent="-285750">
              <a:lnSpc>
                <a:spcPct val="150000"/>
              </a:lnSpc>
              <a:buFont typeface="Arial" panose="020B0604020202020204" pitchFamily="34" charset="0"/>
              <a:buChar char="•"/>
            </a:pPr>
            <a:r>
              <a:rPr lang="en-US" dirty="0"/>
              <a:t>Compare different years and months for seasonal trends.</a:t>
            </a:r>
          </a:p>
          <a:p>
            <a:pPr marL="285750" indent="-285750">
              <a:lnSpc>
                <a:spcPct val="150000"/>
              </a:lnSpc>
              <a:buFont typeface="Arial" panose="020B0604020202020204" pitchFamily="34" charset="0"/>
              <a:buChar char="•"/>
            </a:pPr>
            <a:r>
              <a:rPr lang="en-US" dirty="0"/>
              <a:t>Examine the relationship between discounts and profits.</a:t>
            </a:r>
            <a:br>
              <a:rPr lang="en-US" dirty="0"/>
            </a:b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7315200" cy="457200"/>
          </a:xfrm>
          <a:prstGeom prst="rect">
            <a:avLst/>
          </a:prstGeom>
          <a:noFill/>
        </p:spPr>
        <p:txBody>
          <a:bodyPr wrap="none">
            <a:spAutoFit/>
          </a:bodyPr>
          <a:lstStyle/>
          <a:p>
            <a:pPr>
              <a:defRPr sz="2600" b="1">
                <a:solidFill>
                  <a:srgbClr val="FFFFFF"/>
                </a:solidFill>
              </a:defRPr>
            </a:pPr>
            <a:r>
              <a:t>Insights</a:t>
            </a:r>
          </a:p>
        </p:txBody>
      </p:sp>
      <p:sp>
        <p:nvSpPr>
          <p:cNvPr id="4" name="Rounded Rectangle 3"/>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6996595" cy="1892826"/>
          </a:xfrm>
          <a:prstGeom prst="rect">
            <a:avLst/>
          </a:prstGeom>
          <a:noFill/>
        </p:spPr>
        <p:txBody>
          <a:bodyPr wrap="none">
            <a:spAutoFit/>
          </a:bodyPr>
          <a:lstStyle/>
          <a:p>
            <a:pPr marL="285750" indent="-285750">
              <a:lnSpc>
                <a:spcPct val="150000"/>
              </a:lnSpc>
              <a:buFont typeface="Arial" panose="020B0604020202020204" pitchFamily="34" charset="0"/>
              <a:buChar char="•"/>
            </a:pPr>
            <a:r>
              <a:rPr lang="en-US" dirty="0"/>
              <a:t>Sales are concentrated in specific product sub-categories and regions.</a:t>
            </a:r>
          </a:p>
          <a:p>
            <a:pPr marL="285750" indent="-285750">
              <a:lnSpc>
                <a:spcPct val="150000"/>
              </a:lnSpc>
              <a:buFont typeface="Arial" panose="020B0604020202020204" pitchFamily="34" charset="0"/>
              <a:buChar char="•"/>
            </a:pPr>
            <a:r>
              <a:rPr lang="en-US" dirty="0"/>
              <a:t>A small percentage of customers contribute to a large share of sales.</a:t>
            </a:r>
          </a:p>
          <a:p>
            <a:pPr marL="285750" indent="-285750">
              <a:lnSpc>
                <a:spcPct val="150000"/>
              </a:lnSpc>
              <a:buFont typeface="Arial" panose="020B0604020202020204" pitchFamily="34" charset="0"/>
              <a:buChar char="•"/>
            </a:pPr>
            <a:r>
              <a:rPr lang="en-US" dirty="0"/>
              <a:t>Certain regions have high sales but low profit margins.</a:t>
            </a:r>
          </a:p>
          <a:p>
            <a:br>
              <a:rPr lang="en-US" dirty="0"/>
            </a:b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42846"/>
          </a:solidFill>
          <a:ln>
            <a:solidFill>
              <a:srgbClr val="1428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7315200" cy="457200"/>
          </a:xfrm>
          <a:prstGeom prst="rect">
            <a:avLst/>
          </a:prstGeom>
          <a:noFill/>
        </p:spPr>
        <p:txBody>
          <a:bodyPr wrap="none">
            <a:spAutoFit/>
          </a:bodyPr>
          <a:lstStyle/>
          <a:p>
            <a:pPr>
              <a:defRPr sz="2600" b="1">
                <a:solidFill>
                  <a:srgbClr val="FFFFFF"/>
                </a:solidFill>
              </a:defRPr>
            </a:pPr>
            <a:r>
              <a:t>Conclusion</a:t>
            </a:r>
          </a:p>
        </p:txBody>
      </p:sp>
      <p:sp>
        <p:nvSpPr>
          <p:cNvPr id="4" name="Rounded Rectangle 3"/>
          <p:cNvSpPr/>
          <p:nvPr/>
        </p:nvSpPr>
        <p:spPr>
          <a:xfrm>
            <a:off x="640080" y="1097280"/>
            <a:ext cx="7772400" cy="4297680"/>
          </a:xfrm>
          <a:prstGeom prst="roundRect">
            <a:avLst/>
          </a:prstGeom>
          <a:solidFill>
            <a:srgbClr val="E4ECF7"/>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1" y="1325880"/>
            <a:ext cx="7233919" cy="969496"/>
          </a:xfrm>
          <a:prstGeom prst="rect">
            <a:avLst/>
          </a:prstGeom>
          <a:noFill/>
        </p:spPr>
        <p:txBody>
          <a:bodyPr wrap="square">
            <a:spAutoFit/>
          </a:bodyPr>
          <a:lstStyle/>
          <a:p>
            <a:pPr algn="just">
              <a:spcAft>
                <a:spcPts val="1000"/>
              </a:spcAft>
              <a:defRPr sz="1900">
                <a:solidFill>
                  <a:srgbClr val="2D2D2D"/>
                </a:solidFill>
                <a:latin typeface="Calibri"/>
              </a:defRPr>
            </a:pPr>
            <a:r>
              <a:rPr dirty="0"/>
              <a:t>• </a:t>
            </a:r>
            <a:r>
              <a:rPr lang="en-US" sz="1900" dirty="0"/>
              <a:t>This dashboard provides a clear view of where the company earns most of its revenue and profits. By acting on these insights, sales can be increased while improving efficiency and profitability.</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2846"/>
        </a:solidFill>
        <a:effectLst/>
      </p:bgPr>
    </p:bg>
    <p:spTree>
      <p:nvGrpSpPr>
        <p:cNvPr id="1" name=""/>
        <p:cNvGrpSpPr/>
        <p:nvPr/>
      </p:nvGrpSpPr>
      <p:grpSpPr>
        <a:xfrm>
          <a:off x="0" y="0"/>
          <a:ext cx="0" cy="0"/>
          <a:chOff x="0" y="0"/>
          <a:chExt cx="0" cy="0"/>
        </a:xfrm>
      </p:grpSpPr>
      <p:sp>
        <p:nvSpPr>
          <p:cNvPr id="2" name="TextBox 1"/>
          <p:cNvSpPr txBox="1"/>
          <p:nvPr/>
        </p:nvSpPr>
        <p:spPr>
          <a:xfrm>
            <a:off x="3520440" y="1838960"/>
            <a:ext cx="2103120" cy="615553"/>
          </a:xfrm>
          <a:prstGeom prst="rect">
            <a:avLst/>
          </a:prstGeom>
          <a:noFill/>
        </p:spPr>
        <p:txBody>
          <a:bodyPr wrap="square">
            <a:spAutoFit/>
          </a:bodyPr>
          <a:lstStyle/>
          <a:p>
            <a:pPr>
              <a:defRPr sz="3400" b="1">
                <a:solidFill>
                  <a:srgbClr val="FFFFFF"/>
                </a:solidFill>
              </a:defRPr>
            </a:pPr>
            <a:r>
              <a:rPr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TotalTime>
  <Words>321</Words>
  <Application>Microsoft Office PowerPoint</Application>
  <PresentationFormat>On-screen Show (4:3)</PresentationFormat>
  <Paragraphs>33</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Abhijeet Kedar</cp:lastModifiedBy>
  <cp:revision>3</cp:revision>
  <dcterms:created xsi:type="dcterms:W3CDTF">2013-01-27T09:14:16Z</dcterms:created>
  <dcterms:modified xsi:type="dcterms:W3CDTF">2026-06-05T11:52:26Z</dcterms:modified>
  <cp:category/>
</cp:coreProperties>
</file>